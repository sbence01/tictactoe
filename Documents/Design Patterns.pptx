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E6D7B8-9CE8-4B8A-6F50-79AB032D18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Design </a:t>
            </a:r>
            <a:r>
              <a:rPr lang="hu-HU" dirty="0" err="1"/>
              <a:t>Patterns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0C904C7-3367-2221-214C-FA12F0AAB7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Sárga BENCE</a:t>
            </a:r>
          </a:p>
        </p:txBody>
      </p:sp>
    </p:spTree>
    <p:extLst>
      <p:ext uri="{BB962C8B-B14F-4D97-AF65-F5344CB8AC3E}">
        <p14:creationId xmlns:p14="http://schemas.microsoft.com/office/powerpoint/2010/main" val="2382376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2C5CDD-6EBF-DE66-C8BB-9DA9F9A8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Mi az a Design </a:t>
            </a:r>
            <a:r>
              <a:rPr lang="hu-HU" b="1" dirty="0" err="1"/>
              <a:t>Pattern</a:t>
            </a:r>
            <a:r>
              <a:rPr lang="hu-HU" b="1" dirty="0"/>
              <a:t>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482709C-EA85-CA37-E339-27E44DC39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Általános, </a:t>
            </a:r>
            <a:r>
              <a:rPr lang="hu-HU" dirty="0" err="1"/>
              <a:t>újrafelhasználható</a:t>
            </a:r>
            <a:r>
              <a:rPr lang="hu-HU" dirty="0"/>
              <a:t> megoldás gyakran előforduló </a:t>
            </a:r>
            <a:r>
              <a:rPr lang="hu-HU" dirty="0" err="1"/>
              <a:t>szoftvertertezési</a:t>
            </a:r>
            <a:r>
              <a:rPr lang="hu-HU" dirty="0"/>
              <a:t> problémákra.</a:t>
            </a:r>
          </a:p>
          <a:p>
            <a:r>
              <a:rPr lang="hu-HU" dirty="0"/>
              <a:t>Nem kész kód, hanem sablon.</a:t>
            </a:r>
          </a:p>
          <a:p>
            <a:endParaRPr lang="hu-HU" dirty="0"/>
          </a:p>
          <a:p>
            <a:r>
              <a:rPr lang="hu-HU" dirty="0"/>
              <a:t>Előnyök:</a:t>
            </a:r>
          </a:p>
          <a:p>
            <a:pPr lvl="1"/>
            <a:r>
              <a:rPr lang="hu-HU" dirty="0"/>
              <a:t>Bevált, tesztelt megoldások</a:t>
            </a:r>
          </a:p>
          <a:p>
            <a:pPr lvl="1"/>
            <a:r>
              <a:rPr lang="hu-HU" dirty="0"/>
              <a:t>Karbantartható, bővíthető kód</a:t>
            </a:r>
          </a:p>
        </p:txBody>
      </p:sp>
    </p:spTree>
    <p:extLst>
      <p:ext uri="{BB962C8B-B14F-4D97-AF65-F5344CB8AC3E}">
        <p14:creationId xmlns:p14="http://schemas.microsoft.com/office/powerpoint/2010/main" val="1526734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5A4EB4-5774-FA06-50CE-4B486675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Típusai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ADCDBF3-CE85-A0FA-FCA9-FCE67CC78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3 fő kategóriába sorolható:</a:t>
            </a:r>
          </a:p>
          <a:p>
            <a:pPr lvl="1"/>
            <a:r>
              <a:rPr lang="hu-HU" dirty="0" err="1"/>
              <a:t>Creational</a:t>
            </a:r>
            <a:r>
              <a:rPr lang="hu-HU" dirty="0"/>
              <a:t> (Létrehozási minta)</a:t>
            </a:r>
          </a:p>
          <a:p>
            <a:pPr lvl="1"/>
            <a:endParaRPr lang="hu-HU" dirty="0"/>
          </a:p>
          <a:p>
            <a:pPr lvl="1"/>
            <a:r>
              <a:rPr lang="hu-HU" dirty="0" err="1"/>
              <a:t>Structural</a:t>
            </a:r>
            <a:r>
              <a:rPr lang="hu-HU" dirty="0"/>
              <a:t> (Szerkezeti minta)</a:t>
            </a:r>
          </a:p>
          <a:p>
            <a:pPr lvl="1"/>
            <a:endParaRPr lang="hu-HU" dirty="0"/>
          </a:p>
          <a:p>
            <a:pPr lvl="1"/>
            <a:r>
              <a:rPr lang="hu-HU" dirty="0" err="1"/>
              <a:t>Behavioral</a:t>
            </a:r>
            <a:r>
              <a:rPr lang="hu-HU" dirty="0"/>
              <a:t> (Viselkedési minta)</a:t>
            </a:r>
          </a:p>
        </p:txBody>
      </p:sp>
    </p:spTree>
    <p:extLst>
      <p:ext uri="{BB962C8B-B14F-4D97-AF65-F5344CB8AC3E}">
        <p14:creationId xmlns:p14="http://schemas.microsoft.com/office/powerpoint/2010/main" val="4056957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6E81DC-8C67-46B2-7F65-96B3852B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Creational</a:t>
            </a:r>
            <a:r>
              <a:rPr lang="hu-HU" b="1" dirty="0"/>
              <a:t> – Létrehozási minták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3F7A47-B044-7755-16AA-3A162691F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46416"/>
            <a:ext cx="9935990" cy="5170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Objektumok létrehozásának rugalmas módjai</a:t>
            </a:r>
          </a:p>
          <a:p>
            <a:pPr lvl="1"/>
            <a:r>
              <a:rPr lang="hu-HU" b="1" dirty="0" err="1"/>
              <a:t>Singleton</a:t>
            </a:r>
            <a:r>
              <a:rPr lang="hu-HU" b="1" dirty="0"/>
              <a:t>:</a:t>
            </a:r>
          </a:p>
          <a:p>
            <a:pPr lvl="2"/>
            <a:r>
              <a:rPr lang="hu-HU" dirty="0"/>
              <a:t>Biztosítja, hogy egy osztályból csak egy példány létezzen és globális hozzáférést ad hozzá.</a:t>
            </a:r>
          </a:p>
          <a:p>
            <a:pPr lvl="1"/>
            <a:r>
              <a:rPr lang="hu-HU" b="1" dirty="0" err="1"/>
              <a:t>Abstract</a:t>
            </a:r>
            <a:r>
              <a:rPr lang="hu-HU" b="1" dirty="0"/>
              <a:t> </a:t>
            </a:r>
            <a:r>
              <a:rPr lang="hu-HU" b="1" dirty="0" err="1"/>
              <a:t>Factory</a:t>
            </a:r>
            <a:r>
              <a:rPr lang="hu-HU" b="1" dirty="0"/>
              <a:t>:</a:t>
            </a:r>
          </a:p>
          <a:p>
            <a:pPr lvl="2"/>
            <a:r>
              <a:rPr lang="hu-HU" dirty="0"/>
              <a:t>Kapcsolódó objektumok családjának létrehozására konkrét osztályok megadása nélkül.</a:t>
            </a:r>
          </a:p>
          <a:p>
            <a:pPr lvl="1"/>
            <a:r>
              <a:rPr lang="hu-HU" b="1" dirty="0" err="1"/>
              <a:t>Prototype</a:t>
            </a:r>
            <a:r>
              <a:rPr lang="hu-HU" b="1" dirty="0"/>
              <a:t>:</a:t>
            </a:r>
          </a:p>
          <a:p>
            <a:pPr lvl="2"/>
            <a:r>
              <a:rPr lang="hu-HU" dirty="0"/>
              <a:t>Új objektumok létrehozása meglévő objektumok másolásával.</a:t>
            </a:r>
          </a:p>
          <a:p>
            <a:pPr lvl="1"/>
            <a:r>
              <a:rPr lang="hu-HU" b="1" dirty="0" err="1"/>
              <a:t>Factory</a:t>
            </a:r>
            <a:r>
              <a:rPr lang="hu-HU" b="1" dirty="0"/>
              <a:t> </a:t>
            </a:r>
            <a:r>
              <a:rPr lang="hu-HU" b="1" dirty="0" err="1"/>
              <a:t>Method</a:t>
            </a:r>
            <a:r>
              <a:rPr lang="hu-HU" b="1" dirty="0"/>
              <a:t>:</a:t>
            </a:r>
          </a:p>
          <a:p>
            <a:pPr lvl="2"/>
            <a:r>
              <a:rPr lang="hu-HU" dirty="0"/>
              <a:t>Objektumok létrehozását alosztályokra bízza, elrejtve a konkrét típus kiválasztását</a:t>
            </a:r>
          </a:p>
          <a:p>
            <a:pPr lvl="1"/>
            <a:r>
              <a:rPr lang="hu-HU" b="1" dirty="0" err="1"/>
              <a:t>Builder</a:t>
            </a:r>
            <a:r>
              <a:rPr lang="hu-HU" b="1" dirty="0"/>
              <a:t>:</a:t>
            </a:r>
          </a:p>
          <a:p>
            <a:pPr lvl="2"/>
            <a:r>
              <a:rPr lang="hu-HU" dirty="0"/>
              <a:t>Komplex objektumok </a:t>
            </a:r>
            <a:r>
              <a:rPr lang="hu-HU" dirty="0" err="1"/>
              <a:t>lépésenkénti</a:t>
            </a:r>
            <a:r>
              <a:rPr lang="hu-HU" dirty="0"/>
              <a:t> összeállítása, elválasztva a konstrukciót a reprezentációtól.</a:t>
            </a:r>
          </a:p>
        </p:txBody>
      </p:sp>
    </p:spTree>
    <p:extLst>
      <p:ext uri="{BB962C8B-B14F-4D97-AF65-F5344CB8AC3E}">
        <p14:creationId xmlns:p14="http://schemas.microsoft.com/office/powerpoint/2010/main" val="39953235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D0556F-70A9-AE08-AA05-D649CBCA2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Structural</a:t>
            </a:r>
            <a:r>
              <a:rPr lang="hu-HU" b="1" dirty="0"/>
              <a:t> – Szerkezeti minták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D3568C6-B6A2-0C49-3A3D-0340DE16C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96538"/>
            <a:ext cx="9669983" cy="50917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Osztályok és objektumok összekapcsolása nagyobb struktúrákká</a:t>
            </a:r>
          </a:p>
          <a:p>
            <a:pPr lvl="1"/>
            <a:r>
              <a:rPr lang="hu-HU" b="1" dirty="0"/>
              <a:t>Adapter:</a:t>
            </a:r>
          </a:p>
          <a:p>
            <a:pPr lvl="2"/>
            <a:r>
              <a:rPr lang="hu-HU" dirty="0" err="1"/>
              <a:t>Inkompatiblis</a:t>
            </a:r>
            <a:r>
              <a:rPr lang="hu-HU" dirty="0"/>
              <a:t> interfészek </a:t>
            </a:r>
            <a:r>
              <a:rPr lang="hu-HU" dirty="0" err="1"/>
              <a:t>együttmőködését</a:t>
            </a:r>
            <a:r>
              <a:rPr lang="hu-HU" dirty="0"/>
              <a:t> teszi lehetővé közvetítő rétegként.</a:t>
            </a:r>
          </a:p>
          <a:p>
            <a:pPr lvl="1"/>
            <a:r>
              <a:rPr lang="hu-HU" b="1" dirty="0" err="1"/>
              <a:t>Facade</a:t>
            </a:r>
            <a:r>
              <a:rPr lang="hu-HU" b="1" dirty="0"/>
              <a:t>:</a:t>
            </a:r>
          </a:p>
          <a:p>
            <a:pPr lvl="2"/>
            <a:r>
              <a:rPr lang="hu-HU" dirty="0"/>
              <a:t>Egyszerűsített interfészt biztosít egy komplex alrendszerhez.</a:t>
            </a:r>
          </a:p>
          <a:p>
            <a:pPr lvl="1"/>
            <a:r>
              <a:rPr lang="hu-HU" b="1" dirty="0" err="1"/>
              <a:t>Composite</a:t>
            </a:r>
            <a:r>
              <a:rPr lang="hu-HU" b="1" dirty="0"/>
              <a:t>:</a:t>
            </a:r>
          </a:p>
          <a:p>
            <a:pPr lvl="2"/>
            <a:r>
              <a:rPr lang="hu-HU" dirty="0"/>
              <a:t>Objektumokat fastruktúrába rendez, egységesen kezelve az egyedi és összetett elemeket.</a:t>
            </a:r>
          </a:p>
          <a:p>
            <a:pPr lvl="1"/>
            <a:r>
              <a:rPr lang="hu-HU" b="1" dirty="0" err="1"/>
              <a:t>Decorator</a:t>
            </a:r>
            <a:r>
              <a:rPr lang="hu-HU" b="1" dirty="0"/>
              <a:t>:</a:t>
            </a:r>
          </a:p>
          <a:p>
            <a:pPr lvl="2"/>
            <a:r>
              <a:rPr lang="hu-HU" dirty="0"/>
              <a:t>Dinamikusan bővíti funkcionalitását az eredeti osztály módosítása nélkül.</a:t>
            </a:r>
          </a:p>
          <a:p>
            <a:pPr lvl="1"/>
            <a:r>
              <a:rPr lang="hu-HU" b="1" dirty="0"/>
              <a:t>Proxy:</a:t>
            </a:r>
          </a:p>
          <a:p>
            <a:pPr lvl="2"/>
            <a:r>
              <a:rPr lang="hu-HU" dirty="0"/>
              <a:t>Helyettesítő objektum, amely kontrollálja a hozzáférést az eredeti objektumhoz.</a:t>
            </a:r>
          </a:p>
          <a:p>
            <a:pPr lvl="1"/>
            <a:r>
              <a:rPr lang="hu-HU" b="1" dirty="0" err="1"/>
              <a:t>Bridge</a:t>
            </a:r>
            <a:r>
              <a:rPr lang="hu-HU" b="1" dirty="0"/>
              <a:t>:</a:t>
            </a:r>
          </a:p>
          <a:p>
            <a:pPr lvl="2"/>
            <a:r>
              <a:rPr lang="hu-HU" dirty="0"/>
              <a:t>Elválasztja az absztrakciót az implementációtól, hogy függetlenül változhassanak.</a:t>
            </a:r>
          </a:p>
        </p:txBody>
      </p:sp>
    </p:spTree>
    <p:extLst>
      <p:ext uri="{BB962C8B-B14F-4D97-AF65-F5344CB8AC3E}">
        <p14:creationId xmlns:p14="http://schemas.microsoft.com/office/powerpoint/2010/main" val="22087674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CAE2C7-6ABC-7002-3D5B-09CE83B1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Behavioral</a:t>
            </a:r>
            <a:r>
              <a:rPr lang="hu-HU" b="1" dirty="0"/>
              <a:t> – Viselkedési minták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3E4DCE-5DAB-E898-2F20-B82D6E2F5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46662"/>
            <a:ext cx="9686608" cy="52868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Objektumok közötti kommunikáció és felelősségek elosztása</a:t>
            </a:r>
          </a:p>
          <a:p>
            <a:pPr lvl="1"/>
            <a:r>
              <a:rPr lang="hu-HU" b="1" dirty="0" err="1"/>
              <a:t>Observer</a:t>
            </a:r>
            <a:endParaRPr lang="hu-HU" b="1" dirty="0"/>
          </a:p>
          <a:p>
            <a:pPr lvl="2"/>
            <a:r>
              <a:rPr lang="hu-HU" dirty="0"/>
              <a:t>Egy-a-többhöz függőség: állapotváltozáskor automatikusan értesíti a megfigyelőket.</a:t>
            </a:r>
          </a:p>
          <a:p>
            <a:pPr lvl="1"/>
            <a:r>
              <a:rPr lang="hu-HU" b="1" dirty="0" err="1"/>
              <a:t>Command</a:t>
            </a:r>
            <a:endParaRPr lang="hu-HU" b="1" dirty="0"/>
          </a:p>
          <a:p>
            <a:pPr lvl="2"/>
            <a:r>
              <a:rPr lang="hu-HU" dirty="0"/>
              <a:t>Kéréseket objektumokként burkol be, lehetővé téve paraméterezést és visszavonást.</a:t>
            </a:r>
          </a:p>
          <a:p>
            <a:pPr lvl="1"/>
            <a:r>
              <a:rPr lang="hu-HU" b="1" dirty="0" err="1"/>
              <a:t>Iterator</a:t>
            </a:r>
            <a:endParaRPr lang="hu-HU" b="1" dirty="0"/>
          </a:p>
          <a:p>
            <a:pPr lvl="2"/>
            <a:r>
              <a:rPr lang="hu-HU" dirty="0"/>
              <a:t>Szekvenciális hozzáférést biztosít elemekhez a belső struktúra felfedése nélkül.</a:t>
            </a:r>
          </a:p>
          <a:p>
            <a:pPr lvl="1"/>
            <a:r>
              <a:rPr lang="hu-HU" b="1" dirty="0" err="1"/>
              <a:t>Strategy</a:t>
            </a:r>
            <a:endParaRPr lang="hu-HU" b="1" dirty="0"/>
          </a:p>
          <a:p>
            <a:pPr lvl="2"/>
            <a:r>
              <a:rPr lang="hu-HU" dirty="0"/>
              <a:t>Algoritmusok családját definiálja és futásidőben cserélhetővé teszi őket.</a:t>
            </a:r>
          </a:p>
          <a:p>
            <a:pPr lvl="1"/>
            <a:r>
              <a:rPr lang="hu-HU" b="1" dirty="0" err="1"/>
              <a:t>State</a:t>
            </a:r>
            <a:endParaRPr lang="hu-HU" b="1" dirty="0"/>
          </a:p>
          <a:p>
            <a:pPr lvl="2"/>
            <a:r>
              <a:rPr lang="hu-HU" dirty="0"/>
              <a:t>Objektum viselkedését változtatja meg belső állapotának függvényében.</a:t>
            </a:r>
          </a:p>
          <a:p>
            <a:pPr lvl="1"/>
            <a:r>
              <a:rPr lang="hu-HU" b="1" dirty="0" err="1"/>
              <a:t>Template</a:t>
            </a:r>
            <a:r>
              <a:rPr lang="hu-HU" b="1" dirty="0"/>
              <a:t> </a:t>
            </a:r>
            <a:r>
              <a:rPr lang="hu-HU" b="1" dirty="0" err="1"/>
              <a:t>Method</a:t>
            </a:r>
            <a:endParaRPr lang="hu-HU" b="1" dirty="0"/>
          </a:p>
          <a:p>
            <a:pPr lvl="2"/>
            <a:r>
              <a:rPr lang="hu-HU" dirty="0"/>
              <a:t>Algoritmus vázát definiálja, egyes lépéseket alosztályokra bízva.</a:t>
            </a:r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48201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D7503F-BD06-8462-DE92-9CD9CC76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088" y="3065155"/>
            <a:ext cx="6103824" cy="727690"/>
          </a:xfrm>
        </p:spPr>
        <p:txBody>
          <a:bodyPr/>
          <a:lstStyle/>
          <a:p>
            <a:r>
              <a:rPr lang="hu-HU" b="1" dirty="0"/>
              <a:t>Köszönöm a figyelmet!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7508F59-27BE-02C9-86C9-212C77C86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81080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</TotalTime>
  <Words>285</Words>
  <Application>Microsoft Office PowerPoint</Application>
  <PresentationFormat>Szélesvásznú</PresentationFormat>
  <Paragraphs>57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Design Patterns</vt:lpstr>
      <vt:lpstr>Mi az a Design Pattern?</vt:lpstr>
      <vt:lpstr>Típusai</vt:lpstr>
      <vt:lpstr>Creational – Létrehozási minták</vt:lpstr>
      <vt:lpstr>Structural – Szerkezeti minták</vt:lpstr>
      <vt:lpstr>Behavioral – Viselkedési minták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Sárga Bence</dc:creator>
  <cp:lastModifiedBy>Sárga Bence</cp:lastModifiedBy>
  <cp:revision>1</cp:revision>
  <dcterms:created xsi:type="dcterms:W3CDTF">2025-12-08T19:00:29Z</dcterms:created>
  <dcterms:modified xsi:type="dcterms:W3CDTF">2025-12-08T19:20:42Z</dcterms:modified>
</cp:coreProperties>
</file>